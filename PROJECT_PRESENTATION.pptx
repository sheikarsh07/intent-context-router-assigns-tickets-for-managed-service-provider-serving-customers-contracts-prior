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Intent Context Router Assigns Tickets for Managed-Service Providers</a:t>
            </a:r>
          </a:p>
          <a:p>
            <a:pPr>
              <a:spcBef>
                <a:spcPts val="1500"/>
              </a:spcBef>
              <a:defRPr sz="1800">
                <a:solidFill>
                  <a:srgbClr val="38BDF8"/>
                </a:solidFill>
              </a:defRPr>
            </a:pPr>
            <a:r>
              <a:t>Context-Aware IT Support Ticket Assignment Engine with Hard/Soft Constraints &amp; Explainability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Academic Software Project Presentation | Viva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INTENT CONTEXT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The Ticket Bouncing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2626"/>
                </a:solidFill>
              </a:defRPr>
            </a:pPr>
            <a:r>
              <a:t>🚨 Traditional Text-Only Routing Bottlenecks: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0F172A"/>
                </a:solidFill>
              </a:rPr>
              <a:t>• Text Ambiguity: </a:t>
            </a:r>
            <a:r>
              <a:rPr sz="1600">
                <a:solidFill>
                  <a:srgbClr val="334155"/>
                </a:solidFill>
              </a:rPr>
              <a:t>Tickets mentioning keywords like 'VPN' are routed to Network Team even when the root cause is an Application crash.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0F172A"/>
                </a:solidFill>
              </a:rPr>
              <a:t>• Ticket Bouncing: </a:t>
            </a:r>
            <a:r>
              <a:rPr sz="1600">
                <a:solidFill>
                  <a:srgbClr val="334155"/>
                </a:solidFill>
              </a:rPr>
              <a:t>Tickets are repeatedly shuffled between resolver teams, increasing Mean-Time-To-Resolution (MTTR).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0F172A"/>
                </a:solidFill>
              </a:rPr>
              <a:t>• Ignored Operational Context: </a:t>
            </a:r>
            <a:r>
              <a:rPr sz="1600">
                <a:solidFill>
                  <a:srgbClr val="334155"/>
                </a:solidFill>
              </a:rPr>
              <a:t>Customer contracts, user roles (External Partners), and past failed assignments are ignored by basic text models.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0F172A"/>
                </a:solidFill>
              </a:rPr>
              <a:t>• SLA Penalties: </a:t>
            </a:r>
            <a:r>
              <a:rPr sz="1600">
                <a:solidFill>
                  <a:srgbClr val="334155"/>
                </a:solidFill>
              </a:rPr>
              <a:t>Misassignments breach Service Level Agreements (SLAs), incurring financial penalties for Managed Service Providers (MSPs).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INTENT CONTEXT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5-Step Routing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</a:pPr>
            <a:r>
              <a:rPr b="1" sz="1600">
                <a:solidFill>
                  <a:srgbClr val="2563EB"/>
                </a:solidFill>
              </a:rPr>
              <a:t>▶ 1. Text Intent Classification: </a:t>
            </a:r>
            <a:r>
              <a:rPr sz="1500">
                <a:solidFill>
                  <a:srgbClr val="334155"/>
                </a:solidFill>
              </a:rPr>
              <a:t>Extracts technical category (VPN Issue, Security Incident, DB Outage) via TF-IDF + Logistic Regression.</a:t>
            </a:r>
          </a:p>
          <a:p>
            <a:pPr>
              <a:spcBef>
                <a:spcPts val="1000"/>
              </a:spcBef>
            </a:pPr>
            <a:r>
              <a:rPr b="1" sz="1600">
                <a:solidFill>
                  <a:srgbClr val="2563EB"/>
                </a:solidFill>
              </a:rPr>
              <a:t>▶ 2. Hard Constraints Filter: </a:t>
            </a:r>
            <a:r>
              <a:rPr sz="1500">
                <a:solidFill>
                  <a:srgbClr val="334155"/>
                </a:solidFill>
              </a:rPr>
              <a:t>Strictly eliminates non-compliant teams (Security authorization, customer contract limits, partner access).</a:t>
            </a:r>
          </a:p>
          <a:p>
            <a:pPr>
              <a:spcBef>
                <a:spcPts val="1000"/>
              </a:spcBef>
            </a:pPr>
            <a:r>
              <a:rPr b="1" sz="1600">
                <a:solidFill>
                  <a:srgbClr val="2563EB"/>
                </a:solidFill>
              </a:rPr>
              <a:t>▶ 3. Soft Constraint Scoring: </a:t>
            </a:r>
            <a:r>
              <a:rPr sz="1500">
                <a:solidFill>
                  <a:srgbClr val="334155"/>
                </a:solidFill>
              </a:rPr>
              <a:t>Ranks remaining candidates using weighted criteria (+35 intent, +25 asset, -30 bounce penalty).</a:t>
            </a:r>
          </a:p>
          <a:p>
            <a:pPr>
              <a:spcBef>
                <a:spcPts val="1000"/>
              </a:spcBef>
            </a:pPr>
            <a:r>
              <a:rPr b="1" sz="1600">
                <a:solidFill>
                  <a:srgbClr val="2563EB"/>
                </a:solidFill>
              </a:rPr>
              <a:t>▶ 4. Winner &amp; Confidence: </a:t>
            </a:r>
            <a:r>
              <a:rPr sz="1500">
                <a:solidFill>
                  <a:srgbClr val="334155"/>
                </a:solidFill>
              </a:rPr>
              <a:t>Selects top-scoring resolver team and computes confidence score.</a:t>
            </a:r>
          </a:p>
          <a:p>
            <a:pPr>
              <a:spcBef>
                <a:spcPts val="1000"/>
              </a:spcBef>
            </a:pPr>
            <a:r>
              <a:rPr b="1" sz="1600">
                <a:solidFill>
                  <a:srgbClr val="2563EB"/>
                </a:solidFill>
              </a:rPr>
              <a:t>▶ 5. Explainable Rationale: </a:t>
            </a:r>
            <a:r>
              <a:rPr sz="1500">
                <a:solidFill>
                  <a:srgbClr val="334155"/>
                </a:solidFill>
              </a:rPr>
              <a:t>Generates transparent human-readable explanations detailing feature scores and policy rejections.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INTENT CONTEXT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Hard Constraints vs Soft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91B1B"/>
                </a:solidFill>
              </a:defRPr>
            </a:pPr>
            <a:r>
              <a:t>🔒 Hard Constraints (Strict Filters)</a:t>
            </a:r>
          </a:p>
          <a:p>
            <a:pPr>
              <a:spcBef>
                <a:spcPts val="800"/>
              </a:spcBef>
              <a:defRPr sz="1400"/>
            </a:pPr>
            <a:r>
              <a:t>• Binary Filter: Violators strictly rejected (is_eligible = False)</a:t>
            </a:r>
          </a:p>
          <a:p>
            <a:pPr>
              <a:spcBef>
                <a:spcPts val="800"/>
              </a:spcBef>
              <a:defRPr sz="1400"/>
            </a:pPr>
            <a:r>
              <a:t>• Security Rule: Security threats force Security Team</a:t>
            </a:r>
          </a:p>
          <a:p>
            <a:pPr>
              <a:spcBef>
                <a:spcPts val="800"/>
              </a:spcBef>
              <a:defRPr sz="1400"/>
            </a:pPr>
            <a:r>
              <a:t>• Org Contract Policy: Customer contract limits unapproved teams</a:t>
            </a:r>
          </a:p>
          <a:p>
            <a:pPr>
              <a:spcBef>
                <a:spcPts val="800"/>
              </a:spcBef>
              <a:defRPr sz="1400"/>
            </a:pPr>
            <a:r>
              <a:t>• Partner Limits: External Partner role restricts access</a:t>
            </a:r>
          </a:p>
          <a:p>
            <a:pPr>
              <a:spcBef>
                <a:spcPts val="800"/>
              </a:spcBef>
              <a:defRPr sz="1400"/>
            </a:pPr>
            <a:r>
              <a:t>• Priority Caps: Critical priority matches team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6534"/>
                </a:solidFill>
              </a:defRPr>
            </a:pPr>
            <a:r>
              <a:t>⚖️ Soft Constraints (Weighted Scoring)</a:t>
            </a:r>
          </a:p>
          <a:p>
            <a:pPr>
              <a:spcBef>
                <a:spcPts val="800"/>
              </a:spcBef>
              <a:defRPr sz="1400"/>
            </a:pPr>
            <a:r>
              <a:t>• Intent Match: +35.0 (Handles detected intent)</a:t>
            </a:r>
          </a:p>
          <a:p>
            <a:pPr>
              <a:spcBef>
                <a:spcPts val="800"/>
              </a:spcBef>
              <a:defRPr sz="1400"/>
            </a:pPr>
            <a:r>
              <a:t>• Asset Match: +25.0 (Handles primary asset type)</a:t>
            </a:r>
          </a:p>
          <a:p>
            <a:pPr>
              <a:spcBef>
                <a:spcPts val="800"/>
              </a:spcBef>
              <a:defRPr sz="1400"/>
            </a:pPr>
            <a:r>
              <a:t>• Org Policy Match: +10.0 (Approved team)</a:t>
            </a:r>
          </a:p>
          <a:p>
            <a:pPr>
              <a:spcBef>
                <a:spcPts val="800"/>
              </a:spcBef>
              <a:defRPr sz="1400"/>
            </a:pPr>
            <a:r>
              <a:t>• Contract Tier: +10.0 (Matches Premium SLA)</a:t>
            </a:r>
          </a:p>
          <a:p>
            <a:pPr>
              <a:spcBef>
                <a:spcPts val="800"/>
              </a:spcBef>
              <a:defRPr sz="1400"/>
            </a:pPr>
            <a:r>
              <a:t>• Bounce Penalty: -30.0 (Penalizes failed past teams)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INTENT CONTEXT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Quantitative Evaluation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📊 Measured Benchmark Performance (20% Held-Out Test Set):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563EB"/>
                </a:solidFill>
              </a:rPr>
              <a:t>• First-Assignment Accuracy: </a:t>
            </a:r>
            <a:r>
              <a:rPr sz="1600">
                <a:solidFill>
                  <a:srgbClr val="0F172A"/>
                </a:solidFill>
              </a:rPr>
              <a:t>Baseline 85.45% ──► Context Router 90.00% (+5.32% Boost)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563EB"/>
                </a:solidFill>
              </a:rPr>
              <a:t>• Ticket Bounce Rate: </a:t>
            </a:r>
            <a:r>
              <a:rPr sz="1600">
                <a:solidFill>
                  <a:srgbClr val="0F172A"/>
                </a:solidFill>
              </a:rPr>
              <a:t>Baseline 14.55% ──► Context Router 10.00% (-31.25% Reduction)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563EB"/>
                </a:solidFill>
              </a:rPr>
              <a:t>• Weighted F1 Score: </a:t>
            </a:r>
            <a:r>
              <a:rPr sz="1600">
                <a:solidFill>
                  <a:srgbClr val="0F172A"/>
                </a:solidFill>
              </a:rPr>
              <a:t>Baseline 85.12% ──► Context Router 89.84% (+4.72% Increase)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563EB"/>
                </a:solidFill>
              </a:rPr>
              <a:t>• Adversarial Test Suite: </a:t>
            </a:r>
            <a:r>
              <a:rPr sz="1600">
                <a:solidFill>
                  <a:srgbClr val="0F172A"/>
                </a:solidFill>
              </a:rPr>
              <a:t>90.0% Pass Rate across 10 complex edge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Conclusion &amp; Viva Readiness</a:t>
            </a:r>
          </a:p>
          <a:p>
            <a:pPr>
              <a:spcBef>
                <a:spcPts val="2000"/>
              </a:spcBef>
              <a:defRPr sz="1800">
                <a:solidFill>
                  <a:srgbClr val="38BDF8"/>
                </a:solidFill>
              </a:defRPr>
            </a:pPr>
            <a:r>
              <a:t>✓ Operational Context is just as vital as Natural Language Text Intent.</a:t>
            </a:r>
          </a:p>
          <a:p>
            <a:pPr>
              <a:spcBef>
                <a:spcPts val="1000"/>
              </a:spcBef>
              <a:defRPr sz="1800">
                <a:solidFill>
                  <a:srgbClr val="34D399"/>
                </a:solidFill>
              </a:defRPr>
            </a:pPr>
            <a:r>
              <a:t>✓ 100% Local, Explainable, One-Click Executable Project.</a:t>
            </a:r>
          </a:p>
          <a:p>
            <a:pPr>
              <a:spcBef>
                <a:spcPts val="3000"/>
              </a:spcBef>
              <a:defRPr sz="2000" b="1">
                <a:solidFill>
                  <a:srgbClr val="F8FAFC"/>
                </a:solidFill>
              </a:defRPr>
            </a:pPr>
            <a:r>
              <a:t>Thank You! Ready for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